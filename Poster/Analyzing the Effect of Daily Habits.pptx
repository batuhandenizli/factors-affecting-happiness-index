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1" d="100"/>
          <a:sy n="21" d="100"/>
        </p:scale>
        <p:origin x="14" y="-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83524-233B-49EE-B391-96143150137A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22A-4D73-49DD-9AD6-E469F1F0F1F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443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83524-233B-49EE-B391-96143150137A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22A-4D73-49DD-9AD6-E469F1F0F1F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287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83524-233B-49EE-B391-96143150137A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22A-4D73-49DD-9AD6-E469F1F0F1F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65118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83524-233B-49EE-B391-96143150137A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22A-4D73-49DD-9AD6-E469F1F0F1F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1246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83524-233B-49EE-B391-96143150137A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22A-4D73-49DD-9AD6-E469F1F0F1F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533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83524-233B-49EE-B391-96143150137A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22A-4D73-49DD-9AD6-E469F1F0F1F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726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83524-233B-49EE-B391-96143150137A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22A-4D73-49DD-9AD6-E469F1F0F1F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302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83524-233B-49EE-B391-96143150137A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22A-4D73-49DD-9AD6-E469F1F0F1F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520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83524-233B-49EE-B391-96143150137A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22A-4D73-49DD-9AD6-E469F1F0F1F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9228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83524-233B-49EE-B391-96143150137A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22A-4D73-49DD-9AD6-E469F1F0F1F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9230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83524-233B-49EE-B391-96143150137A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22A-4D73-49DD-9AD6-E469F1F0F1F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538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583524-233B-49EE-B391-96143150137A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A0022A-4D73-49DD-9AD6-E469F1F0F1F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635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8EA62-9689-7BE6-009B-BEE24158A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09032"/>
            <a:ext cx="21383625" cy="2926491"/>
          </a:xfrm>
          <a:solidFill>
            <a:schemeClr val="tx2">
              <a:lumMod val="75000"/>
              <a:lumOff val="25000"/>
            </a:schemeClr>
          </a:solidFill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</a:rPr>
              <a:t>Analyzing the Effect of Daily Habits </a:t>
            </a:r>
            <a:br>
              <a:rPr lang="tr-TR" sz="9600" b="1" dirty="0">
                <a:solidFill>
                  <a:schemeClr val="bg1"/>
                </a:solidFill>
              </a:rPr>
            </a:br>
            <a:r>
              <a:rPr lang="en-US" sz="9600" b="1" dirty="0">
                <a:solidFill>
                  <a:schemeClr val="bg1"/>
                </a:solidFill>
              </a:rPr>
              <a:t>on the Happiness Index</a:t>
            </a:r>
            <a:endParaRPr lang="tr-TR" sz="96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9C7E6-252E-CBB8-EA1B-F7DBD687A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21730836" y="27756692"/>
            <a:ext cx="6434471" cy="2182860"/>
          </a:xfrm>
        </p:spPr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B5F3DD-6EB5-BB6D-6A16-918351D2FC61}"/>
              </a:ext>
            </a:extLst>
          </p:cNvPr>
          <p:cNvSpPr txBox="1"/>
          <p:nvPr/>
        </p:nvSpPr>
        <p:spPr>
          <a:xfrm>
            <a:off x="4485933" y="682714"/>
            <a:ext cx="123226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800" b="1" dirty="0"/>
              <a:t>Batuhan Denizli</a:t>
            </a:r>
          </a:p>
        </p:txBody>
      </p:sp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id="{086F9DE8-FD4C-273B-BFD9-812D0060B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1533" y="496264"/>
            <a:ext cx="914400" cy="914400"/>
          </a:xfrm>
          <a:prstGeom prst="rect">
            <a:avLst/>
          </a:prstGeom>
        </p:spPr>
      </p:pic>
      <p:pic>
        <p:nvPicPr>
          <p:cNvPr id="14" name="Graphic 13" descr="Envelope with solid fill">
            <a:extLst>
              <a:ext uri="{FF2B5EF4-FFF2-40B4-BE49-F238E27FC236}">
                <a16:creationId xmlns:a16="http://schemas.microsoft.com/office/drawing/2014/main" id="{2CAE5DF3-B9A3-E184-C25F-C4174D6D3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6071" y="532600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B69F50E-024A-6C2E-1E6E-505C67844B28}"/>
              </a:ext>
            </a:extLst>
          </p:cNvPr>
          <p:cNvSpPr txBox="1"/>
          <p:nvPr/>
        </p:nvSpPr>
        <p:spPr>
          <a:xfrm>
            <a:off x="11193572" y="708135"/>
            <a:ext cx="1131910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800" b="1" dirty="0"/>
              <a:t>batuhandenizli@ogr.eskisehir.edu.tr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413C86-0B45-22FA-4000-872D3C8E8EBB}"/>
              </a:ext>
            </a:extLst>
          </p:cNvPr>
          <p:cNvSpPr txBox="1"/>
          <p:nvPr/>
        </p:nvSpPr>
        <p:spPr>
          <a:xfrm>
            <a:off x="764038" y="5125670"/>
            <a:ext cx="1985554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/>
              <a:t>Is happiness a coincidence, or a result of our habits? Based </a:t>
            </a:r>
            <a:r>
              <a:rPr lang="en-US" sz="4400" b="1" dirty="0"/>
              <a:t>on</a:t>
            </a:r>
            <a:r>
              <a:rPr lang="en-US" sz="4000" b="1" dirty="0"/>
              <a:t> data from 500</a:t>
            </a:r>
            <a:r>
              <a:rPr lang="tr-TR" sz="4000" b="1" dirty="0"/>
              <a:t> </a:t>
            </a:r>
            <a:r>
              <a:rPr lang="en-US" sz="4000" b="1" dirty="0"/>
              <a:t>American citizens, this analysis reveals the direct impact of our daily choices on our mood.</a:t>
            </a:r>
            <a:endParaRPr lang="tr-TR" sz="4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D81583-C5EA-18A5-2823-917DD9E379F3}"/>
              </a:ext>
            </a:extLst>
          </p:cNvPr>
          <p:cNvSpPr txBox="1"/>
          <p:nvPr/>
        </p:nvSpPr>
        <p:spPr>
          <a:xfrm>
            <a:off x="2400181" y="4221644"/>
            <a:ext cx="164941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How much happiness do our routines bring us?</a:t>
            </a:r>
            <a:endParaRPr lang="tr-TR" sz="6000" b="1" dirty="0"/>
          </a:p>
        </p:txBody>
      </p:sp>
      <p:pic>
        <p:nvPicPr>
          <p:cNvPr id="22" name="Graphic 21" descr="Scientific Thought with solid fill">
            <a:extLst>
              <a:ext uri="{FF2B5EF4-FFF2-40B4-BE49-F238E27FC236}">
                <a16:creationId xmlns:a16="http://schemas.microsoft.com/office/drawing/2014/main" id="{FE82D991-0A7B-C434-2253-2B8030E835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03771" y="4284363"/>
            <a:ext cx="885542" cy="885542"/>
          </a:xfrm>
          <a:prstGeom prst="rect">
            <a:avLst/>
          </a:prstGeom>
        </p:spPr>
      </p:pic>
      <p:pic>
        <p:nvPicPr>
          <p:cNvPr id="24" name="Picture 23" descr="A red line with blue dots&#10;&#10;AI-generated content may be incorrect.">
            <a:extLst>
              <a:ext uri="{FF2B5EF4-FFF2-40B4-BE49-F238E27FC236}">
                <a16:creationId xmlns:a16="http://schemas.microsoft.com/office/drawing/2014/main" id="{2C9CE339-5E7D-36E5-9050-A30FFB640B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53" y="7148135"/>
            <a:ext cx="9623632" cy="5540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EC3B7BC-E006-D96F-6711-0738D10B8541}"/>
              </a:ext>
            </a:extLst>
          </p:cNvPr>
          <p:cNvSpPr txBox="1"/>
          <p:nvPr/>
        </p:nvSpPr>
        <p:spPr>
          <a:xfrm>
            <a:off x="1052377" y="12710452"/>
            <a:ext cx="92636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Uncontrolled hours spent in front of screens not only disrupt your sleep; data proves that declining sleep quality directly lowers your happiness index. For higher life energy and happiness scores, end the night with a restful sleep that refreshes your mind, not with screens.</a:t>
            </a:r>
            <a:endParaRPr lang="tr-TR" sz="3200" dirty="0"/>
          </a:p>
        </p:txBody>
      </p:sp>
      <p:pic>
        <p:nvPicPr>
          <p:cNvPr id="28" name="Picture 27" descr="A graph with a line&#10;&#10;AI-generated content may be incorrect.">
            <a:extLst>
              <a:ext uri="{FF2B5EF4-FFF2-40B4-BE49-F238E27FC236}">
                <a16:creationId xmlns:a16="http://schemas.microsoft.com/office/drawing/2014/main" id="{2950EA67-9D6D-483C-3FC6-B80025FE87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41" y="7148135"/>
            <a:ext cx="9289618" cy="5540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2850D3C-A50A-9A10-7351-CE6A8F2DA790}"/>
              </a:ext>
            </a:extLst>
          </p:cNvPr>
          <p:cNvSpPr txBox="1"/>
          <p:nvPr/>
        </p:nvSpPr>
        <p:spPr>
          <a:xfrm rot="10800000" flipV="1">
            <a:off x="11192941" y="12710452"/>
            <a:ext cx="92896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Constant notifications and digital consumption are silently increasing your stress levels. The graph clearly shows how stress rises as screen time increases. Remember; the lower your stress level, the higher your happiness index. Take digital breaks to let your mind breathe.</a:t>
            </a:r>
            <a:endParaRPr lang="tr-TR" sz="3200" dirty="0"/>
          </a:p>
        </p:txBody>
      </p:sp>
      <p:pic>
        <p:nvPicPr>
          <p:cNvPr id="31" name="Picture 30" descr="A blue bar graph with black text&#10;&#10;AI-generated content may be incorrect.">
            <a:extLst>
              <a:ext uri="{FF2B5EF4-FFF2-40B4-BE49-F238E27FC236}">
                <a16:creationId xmlns:a16="http://schemas.microsoft.com/office/drawing/2014/main" id="{8D2645EF-F617-112E-CBD3-6BFB03E0D2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38" y="15779357"/>
            <a:ext cx="9525825" cy="5715495"/>
          </a:xfrm>
          <a:prstGeom prst="rect">
            <a:avLst/>
          </a:prstGeom>
        </p:spPr>
      </p:pic>
      <p:pic>
        <p:nvPicPr>
          <p:cNvPr id="33" name="Picture 32" descr="A green bar graph with numbers&#10;&#10;AI-generated content may be incorrect.">
            <a:extLst>
              <a:ext uri="{FF2B5EF4-FFF2-40B4-BE49-F238E27FC236}">
                <a16:creationId xmlns:a16="http://schemas.microsoft.com/office/drawing/2014/main" id="{CE262AD8-20AE-FFD7-0F54-C8C6EDABA0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7364" y="15779357"/>
            <a:ext cx="9525825" cy="571549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6ABF548-A222-0DDA-CC40-058403E0C000}"/>
              </a:ext>
            </a:extLst>
          </p:cNvPr>
          <p:cNvSpPr txBox="1"/>
          <p:nvPr/>
        </p:nvSpPr>
        <p:spPr>
          <a:xfrm>
            <a:off x="764038" y="21516769"/>
            <a:ext cx="97490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Happiness is not just a mental state, but the result of physical effort. The graph shows how the happiness index steadily increases as the frequency of weekly exercise increases.</a:t>
            </a:r>
            <a:endParaRPr lang="tr-TR" sz="3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893665-27B6-FDCE-9FB5-991C1964E392}"/>
              </a:ext>
            </a:extLst>
          </p:cNvPr>
          <p:cNvSpPr txBox="1"/>
          <p:nvPr/>
        </p:nvSpPr>
        <p:spPr>
          <a:xfrm>
            <a:off x="11230471" y="21516769"/>
            <a:ext cx="86308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/>
              <a:t>I</a:t>
            </a:r>
            <a:r>
              <a:rPr lang="en-US" sz="3200" b="1" dirty="0"/>
              <a:t>t's not just about how much time you spend, but also when you arrive. Data shows that different platforms have different effects on users' happiness index.</a:t>
            </a:r>
            <a:endParaRPr lang="tr-TR" sz="3200" dirty="0"/>
          </a:p>
        </p:txBody>
      </p:sp>
      <p:pic>
        <p:nvPicPr>
          <p:cNvPr id="37" name="Picture 36" descr="A screenshot of a graph&#10;&#10;AI-generated content may be incorrect.">
            <a:extLst>
              <a:ext uri="{FF2B5EF4-FFF2-40B4-BE49-F238E27FC236}">
                <a16:creationId xmlns:a16="http://schemas.microsoft.com/office/drawing/2014/main" id="{B2ABB90D-EAEC-CEDE-605D-C062FC016A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150" y="24374181"/>
            <a:ext cx="11255842" cy="5760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60DC6D8-91E2-47D9-DC6A-3CF0246EF54F}"/>
              </a:ext>
            </a:extLst>
          </p:cNvPr>
          <p:cNvSpPr txBox="1"/>
          <p:nvPr/>
        </p:nvSpPr>
        <p:spPr>
          <a:xfrm>
            <a:off x="1240841" y="24221338"/>
            <a:ext cx="39421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54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Conclusion</a:t>
            </a:r>
            <a:r>
              <a:rPr lang="tr-TR" sz="5400" b="1" dirty="0"/>
              <a:t> </a:t>
            </a:r>
            <a:endParaRPr lang="tr-TR" sz="5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5419D2-E5F0-450C-1F91-A15C8F8EE876}"/>
              </a:ext>
            </a:extLst>
          </p:cNvPr>
          <p:cNvSpPr txBox="1"/>
          <p:nvPr/>
        </p:nvSpPr>
        <p:spPr>
          <a:xfrm>
            <a:off x="764038" y="25149543"/>
            <a:ext cx="59438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Happiness isn't a matter of </a:t>
            </a:r>
            <a:r>
              <a:rPr lang="en-US" sz="3200" b="1" dirty="0" err="1"/>
              <a:t>chance;it's</a:t>
            </a:r>
            <a:r>
              <a:rPr lang="en-US" sz="3200" b="1" dirty="0"/>
              <a:t> the result of a balance between sleep, technology </a:t>
            </a:r>
            <a:r>
              <a:rPr lang="en-US" sz="3200" b="1" dirty="0" err="1"/>
              <a:t>use,and</a:t>
            </a:r>
            <a:r>
              <a:rPr lang="en-US" sz="3200" b="1" dirty="0"/>
              <a:t> physical </a:t>
            </a:r>
            <a:r>
              <a:rPr lang="en-US" sz="3200" b="1" dirty="0" err="1"/>
              <a:t>activity.Healthy</a:t>
            </a:r>
            <a:r>
              <a:rPr lang="en-US" sz="3200" b="1" dirty="0"/>
              <a:t> habits </a:t>
            </a:r>
            <a:r>
              <a:rPr lang="en-US" sz="3200" b="1" dirty="0" err="1"/>
              <a:t>pla</a:t>
            </a:r>
            <a:r>
              <a:rPr lang="tr-TR" sz="3200" b="1" dirty="0"/>
              <a:t>y </a:t>
            </a:r>
            <a:r>
              <a:rPr lang="en-US" sz="3200" b="1" dirty="0"/>
              <a:t>a key role in </a:t>
            </a:r>
            <a:r>
              <a:rPr lang="en-US" sz="3200" b="1" dirty="0" err="1"/>
              <a:t>stres</a:t>
            </a:r>
            <a:r>
              <a:rPr lang="tr-TR" sz="3200" b="1" dirty="0"/>
              <a:t>s </a:t>
            </a:r>
            <a:r>
              <a:rPr lang="tr-TR" sz="3200" b="1" dirty="0" err="1"/>
              <a:t>management</a:t>
            </a:r>
            <a:r>
              <a:rPr lang="tr-TR" sz="3200" b="1" dirty="0"/>
              <a:t>.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491AF3-8F28-A625-03B3-84CDD0AB4C79}"/>
              </a:ext>
            </a:extLst>
          </p:cNvPr>
          <p:cNvSpPr txBox="1"/>
          <p:nvPr/>
        </p:nvSpPr>
        <p:spPr>
          <a:xfrm>
            <a:off x="14326384" y="24221338"/>
            <a:ext cx="61738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54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Recommendations</a:t>
            </a:r>
            <a:endParaRPr lang="tr-TR" sz="5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265958-CD8C-7BB3-94BF-2D33428A73FB}"/>
              </a:ext>
            </a:extLst>
          </p:cNvPr>
          <p:cNvSpPr txBox="1"/>
          <p:nvPr/>
        </p:nvSpPr>
        <p:spPr>
          <a:xfrm>
            <a:off x="14302216" y="25234406"/>
            <a:ext cx="70814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3200" b="1" dirty="0" err="1">
                <a:latin typeface="Arial" panose="020B0604020202020204" pitchFamily="34" charset="0"/>
              </a:rPr>
              <a:t>Establish</a:t>
            </a:r>
            <a:r>
              <a:rPr lang="tr-TR" altLang="tr-TR" sz="3200" b="1" dirty="0">
                <a:latin typeface="Arial" panose="020B0604020202020204" pitchFamily="34" charset="0"/>
              </a:rPr>
              <a:t> </a:t>
            </a:r>
            <a:r>
              <a:rPr lang="tr-TR" altLang="tr-TR" sz="3200" b="1" dirty="0" err="1">
                <a:latin typeface="Arial" panose="020B0604020202020204" pitchFamily="34" charset="0"/>
              </a:rPr>
              <a:t>Digital</a:t>
            </a:r>
            <a:r>
              <a:rPr lang="tr-TR" altLang="tr-TR" sz="3200" b="1" dirty="0">
                <a:latin typeface="Arial" panose="020B0604020202020204" pitchFamily="34" charset="0"/>
              </a:rPr>
              <a:t> </a:t>
            </a:r>
            <a:r>
              <a:rPr lang="tr-TR" altLang="tr-TR" sz="3200" b="1" dirty="0" err="1">
                <a:latin typeface="Arial" panose="020B0604020202020204" pitchFamily="34" charset="0"/>
              </a:rPr>
              <a:t>Balance</a:t>
            </a:r>
            <a:endParaRPr lang="tr-TR" altLang="tr-TR" sz="3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3200" b="1" dirty="0" err="1">
                <a:latin typeface="Arial" panose="020B0604020202020204" pitchFamily="34" charset="0"/>
              </a:rPr>
              <a:t>Choose</a:t>
            </a:r>
            <a:r>
              <a:rPr lang="tr-TR" altLang="tr-TR" sz="3200" b="1" dirty="0">
                <a:latin typeface="Arial" panose="020B0604020202020204" pitchFamily="34" charset="0"/>
              </a:rPr>
              <a:t> an Active </a:t>
            </a:r>
            <a:r>
              <a:rPr lang="tr-TR" altLang="tr-TR" sz="3200" b="1" dirty="0" err="1">
                <a:latin typeface="Arial" panose="020B0604020202020204" pitchFamily="34" charset="0"/>
              </a:rPr>
              <a:t>Lifestyle</a:t>
            </a:r>
            <a:endParaRPr lang="tr-TR" altLang="tr-TR" sz="3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3200" b="1" dirty="0" err="1">
                <a:latin typeface="Arial" panose="020B0604020202020204" pitchFamily="34" charset="0"/>
              </a:rPr>
              <a:t>Prioritize</a:t>
            </a:r>
            <a:r>
              <a:rPr lang="tr-TR" altLang="tr-TR" sz="3200" b="1" dirty="0">
                <a:latin typeface="Arial" panose="020B0604020202020204" pitchFamily="34" charset="0"/>
              </a:rPr>
              <a:t> </a:t>
            </a:r>
            <a:r>
              <a:rPr lang="tr-TR" altLang="tr-TR" sz="3200" b="1" dirty="0" err="1">
                <a:latin typeface="Arial" panose="020B0604020202020204" pitchFamily="34" charset="0"/>
              </a:rPr>
              <a:t>Sleep</a:t>
            </a:r>
            <a:r>
              <a:rPr lang="tr-TR" altLang="tr-TR" sz="3200" b="1" dirty="0">
                <a:latin typeface="Arial" panose="020B0604020202020204" pitchFamily="34" charset="0"/>
              </a:rPr>
              <a:t> </a:t>
            </a:r>
            <a:r>
              <a:rPr lang="tr-TR" altLang="tr-TR" sz="3200" b="1" dirty="0" err="1">
                <a:latin typeface="Arial" panose="020B0604020202020204" pitchFamily="34" charset="0"/>
              </a:rPr>
              <a:t>Quality</a:t>
            </a:r>
            <a:endParaRPr lang="tr-TR" altLang="tr-TR" sz="3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3200" b="1" dirty="0" err="1">
                <a:latin typeface="Arial" panose="020B0604020202020204" pitchFamily="34" charset="0"/>
              </a:rPr>
              <a:t>Mindful</a:t>
            </a:r>
            <a:r>
              <a:rPr lang="tr-TR" altLang="tr-TR" sz="3200" b="1" dirty="0">
                <a:latin typeface="Arial" panose="020B0604020202020204" pitchFamily="34" charset="0"/>
              </a:rPr>
              <a:t> </a:t>
            </a:r>
            <a:r>
              <a:rPr lang="tr-TR" altLang="tr-TR" sz="3200" b="1" dirty="0" err="1">
                <a:latin typeface="Arial" panose="020B0604020202020204" pitchFamily="34" charset="0"/>
              </a:rPr>
              <a:t>Technology</a:t>
            </a:r>
            <a:r>
              <a:rPr lang="tr-TR" altLang="tr-TR" sz="3200" b="1" dirty="0">
                <a:latin typeface="Arial" panose="020B0604020202020204" pitchFamily="34" charset="0"/>
              </a:rPr>
              <a:t> </a:t>
            </a:r>
            <a:r>
              <a:rPr lang="tr-TR" altLang="tr-TR" sz="3200" b="1" dirty="0" err="1">
                <a:latin typeface="Arial" panose="020B0604020202020204" pitchFamily="34" charset="0"/>
              </a:rPr>
              <a:t>Use</a:t>
            </a:r>
            <a:endParaRPr lang="tr-TR" altLang="tr-TR" sz="3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3200" b="1" dirty="0" err="1">
                <a:latin typeface="Arial" panose="020B0604020202020204" pitchFamily="34" charset="0"/>
              </a:rPr>
              <a:t>Make</a:t>
            </a:r>
            <a:r>
              <a:rPr lang="tr-TR" altLang="tr-TR" sz="3200" b="1" dirty="0">
                <a:latin typeface="Arial" panose="020B0604020202020204" pitchFamily="34" charset="0"/>
              </a:rPr>
              <a:t> Small </a:t>
            </a:r>
            <a:r>
              <a:rPr lang="tr-TR" altLang="tr-TR" sz="3200" b="1" dirty="0" err="1">
                <a:latin typeface="Arial" panose="020B0604020202020204" pitchFamily="34" charset="0"/>
              </a:rPr>
              <a:t>Changes</a:t>
            </a:r>
            <a:endParaRPr lang="tr-TR" altLang="tr-TR" sz="3200" dirty="0">
              <a:latin typeface="Arial" panose="020B0604020202020204" pitchFamily="34" charset="0"/>
            </a:endParaRPr>
          </a:p>
          <a:p>
            <a:endParaRPr lang="tr-TR" sz="3200" dirty="0"/>
          </a:p>
        </p:txBody>
      </p:sp>
      <p:pic>
        <p:nvPicPr>
          <p:cNvPr id="46" name="Picture 45" descr="A logo with red squares&#10;&#10;AI-generated content may be incorrect.">
            <a:extLst>
              <a:ext uri="{FF2B5EF4-FFF2-40B4-BE49-F238E27FC236}">
                <a16:creationId xmlns:a16="http://schemas.microsoft.com/office/drawing/2014/main" id="{AE21B73B-1F8A-45DD-07DC-37D204E0220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1627" y="2534922"/>
            <a:ext cx="1697253" cy="1697253"/>
          </a:xfrm>
          <a:prstGeom prst="rect">
            <a:avLst/>
          </a:prstGeom>
        </p:spPr>
      </p:pic>
      <p:pic>
        <p:nvPicPr>
          <p:cNvPr id="48" name="Picture 47" descr="A logo with red squares&#10;&#10;AI-generated content may be incorrect.">
            <a:extLst>
              <a:ext uri="{FF2B5EF4-FFF2-40B4-BE49-F238E27FC236}">
                <a16:creationId xmlns:a16="http://schemas.microsoft.com/office/drawing/2014/main" id="{10C57037-214C-6F6D-1D2B-EB20E8E847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32975"/>
            <a:ext cx="1699200" cy="16992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787A08E-774F-5011-4720-1F317E38288D}"/>
              </a:ext>
            </a:extLst>
          </p:cNvPr>
          <p:cNvSpPr txBox="1"/>
          <p:nvPr/>
        </p:nvSpPr>
        <p:spPr>
          <a:xfrm>
            <a:off x="111162" y="30007223"/>
            <a:ext cx="659667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50" b="1" dirty="0" err="1"/>
              <a:t>Source:https</a:t>
            </a:r>
            <a:r>
              <a:rPr lang="tr-TR" sz="1050" b="1" dirty="0"/>
              <a:t>://www.kaggle.com/datasets/prince7489/mental-health-and-social-media-balance-dataset</a:t>
            </a:r>
            <a:endParaRPr lang="tr-TR" sz="1050" dirty="0"/>
          </a:p>
        </p:txBody>
      </p:sp>
      <p:sp>
        <p:nvSpPr>
          <p:cNvPr id="51" name="Rectangle 2">
            <a:extLst>
              <a:ext uri="{FF2B5EF4-FFF2-40B4-BE49-F238E27FC236}">
                <a16:creationId xmlns:a16="http://schemas.microsoft.com/office/drawing/2014/main" id="{07BF2E51-BBD1-2E03-6EDA-144D097F3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"/>
            <a:ext cx="128914213" cy="79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54" name="Picture 53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0FE09A75-8DC1-0AA1-6173-954A525F04D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8439" y="28488458"/>
            <a:ext cx="1078620" cy="107862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C9BD654E-D040-10BC-EC05-A24C1AAC6D13}"/>
              </a:ext>
            </a:extLst>
          </p:cNvPr>
          <p:cNvSpPr txBox="1"/>
          <p:nvPr/>
        </p:nvSpPr>
        <p:spPr>
          <a:xfrm>
            <a:off x="18593175" y="29651031"/>
            <a:ext cx="25362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dirty="0"/>
              <a:t>https:// https://github.com/batuhandenizli</a:t>
            </a:r>
          </a:p>
        </p:txBody>
      </p:sp>
    </p:spTree>
    <p:extLst>
      <p:ext uri="{BB962C8B-B14F-4D97-AF65-F5344CB8AC3E}">
        <p14:creationId xmlns:p14="http://schemas.microsoft.com/office/powerpoint/2010/main" val="1332989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409</TotalTime>
  <Words>301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Analyzing the Effect of Daily Habits  on the Happiness Index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Batuhan DENİZLİ</dc:creator>
  <cp:lastModifiedBy>Batuhan DENİZLİ</cp:lastModifiedBy>
  <cp:revision>2</cp:revision>
  <dcterms:created xsi:type="dcterms:W3CDTF">2025-12-25T12:26:23Z</dcterms:created>
  <dcterms:modified xsi:type="dcterms:W3CDTF">2025-12-25T19:15:53Z</dcterms:modified>
</cp:coreProperties>
</file>